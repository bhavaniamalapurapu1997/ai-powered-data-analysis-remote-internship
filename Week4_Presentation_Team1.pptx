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19"/>
    <p:sldId id="269" r:id="rId20"/>
    <p:sldId id="258" r:id="rId4"/>
    <p:sldId id="259" r:id="rId5"/>
    <p:sldId id="270" r:id="rId21"/>
    <p:sldId id="267" r:id="rId18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2.xml"/>
  <Relationship Id="rId19" Type="http://schemas.openxmlformats.org/officeDocument/2006/relationships/slide" Target="slides/slide13.xml"/>
  <Relationship Id="rId20" Type="http://schemas.openxmlformats.org/officeDocument/2006/relationships/slide" Target="slides/slide14.xml"/>
  <Relationship Id="rId21" Type="http://schemas.openxmlformats.org/officeDocument/2006/relationships/slide" Target="slides/slide15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733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presentation/d/1H-0UzrInAAeXJ3JMiXcS4UlT9-y12jZk/edit?usp=drivesdk&amp;ouid=104059332352391893240&amp;rtpof=true&amp;sd=true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ml_importance.png"/><Relationship Id="rId3" Type="http://schemas.openxmlformats.org/officeDocument/2006/relationships/image" Target="../media/image_ml_cm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demand.png"/><Relationship Id="rId3" Type="http://schemas.openxmlformats.org/officeDocument/2006/relationships/image" Target="../media/image_rejection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regpeaks.png"/><Relationship Id="rId3" Type="http://schemas.openxmlformats.org/officeDocument/2006/relationships/image" Target="../media/image_institutional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highconv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0" y="320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1C31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C1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DATA TEAM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Data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Internship — Final Presentation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C1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 1307 — AI Data Team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Oladapo Abimbola   </a:t>
            </a:r>
            <a:r>
              <a:rPr lang="en-US" sz="1250" i="1" dirty="0">
                <a:solidFill>
                  <a:srgbClr val="C19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Tshepiso Kelebogile Rampete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Amalapurapu Durga Bhavani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Yare Phenyle Mpella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Ojigbani Cherish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7492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Sindiwe Rana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07492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Kipyator Kapyemit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7492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Oyedijo Comfort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74920" y="49834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Desmond Aziega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RECAP  · 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Funnel &amp; Registration Trends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80760" y="1874520"/>
            <a:ext cx="0" cy="393192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INFLUX DYNAMICS &amp; MAJOR FOCUS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8,558 Total Records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learner engagement across 23 opportunities in 5 distinct categories.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Concentration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 of total applicants apply for Internships (5,421 records), followed by Courses (23.8%).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Influx Cycles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surges cluster predictably around academic term breaks in January and August.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Concentration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184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70% of applicants belong to CS and Information Systems disciplines.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55080" y="1874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DROP-OFF &amp; QUALITY GAPS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55080" y="2286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 Rejection Rate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5786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3,569 applicants rejected versus only 9.0% Started (767 learners).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3154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Gap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44728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drop-off between candidate allocation and active engagement.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023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Anomalies Identified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43159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44.3% of records lacked Opportunity Start Dates; 3,281 records had apply timestamps prior to sign-up date.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4892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Overhead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51846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spelling variations found for source institutions (e.g., Saint Louis University).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RECAP  · 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Internship Retention Crisis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9659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C19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D9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dropouts isolated in just 4 programs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40233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analysis: 608 of 617 total program dropouts occur almost exclusively within four formal internship tracks.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 &amp; PROGRAM CONCENTRATION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66344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88136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2715768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715768"/>
            <a:ext cx="5280660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9900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Entrepreneurship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881360" y="2990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63440" y="3374136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3374136"/>
            <a:ext cx="5139842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648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881360" y="3648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4032504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4032504"/>
            <a:ext cx="4999025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43068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881360" y="43068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4690872"/>
            <a:ext cx="70408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4690872"/>
            <a:ext cx="4717390" cy="0"/>
          </a:xfrm>
          <a:prstGeom prst="line">
            <a:avLst/>
          </a:prstGeom>
          <a:noFill/>
          <a:ln w="38100">
            <a:solidFill>
              <a:srgbClr val="B85C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50749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factors (age/gender) </a:t>
            </a: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weak predictors of dropout. The primary drivers are structural onboarding friction, rigid expectations, and lack of scaffolded milestones.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RECAP  · 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Predictions &amp; Drivers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Tier (Workshops / Events)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114800" y="2084832"/>
            <a:ext cx="7040880" cy="0"/>
          </a:xfrm>
          <a:prstGeom prst="line">
            <a:avLst/>
          </a:prstGeom>
          <a:noFill/>
          <a:ln w="127000">
            <a:solidFill>
              <a:srgbClr val="2738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2084832"/>
            <a:ext cx="6688836" cy="0"/>
          </a:xfrm>
          <a:prstGeom prst="line">
            <a:avLst/>
          </a:prstGeom>
          <a:noFill/>
          <a:ln w="127000">
            <a:solidFill>
              <a:srgbClr val="5B8C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40796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Avg Acceptance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4505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Tier (Certifications)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706624"/>
            <a:ext cx="7040880" cy="0"/>
          </a:xfrm>
          <a:prstGeom prst="line">
            <a:avLst/>
          </a:prstGeom>
          <a:noFill/>
          <a:ln w="127000">
            <a:solidFill>
              <a:srgbClr val="2738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2706624"/>
            <a:ext cx="4787798" cy="0"/>
          </a:xfrm>
          <a:prstGeom prst="line">
            <a:avLst/>
          </a:prstGeom>
          <a:noFill/>
          <a:ln w="127000">
            <a:solidFill>
              <a:srgbClr val="C190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39758" y="2450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Avg Acceptance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072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Tier (Formal Internships)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0" y="3328416"/>
            <a:ext cx="7040880" cy="0"/>
          </a:xfrm>
          <a:prstGeom prst="line">
            <a:avLst/>
          </a:prstGeom>
          <a:noFill/>
          <a:ln w="127000">
            <a:solidFill>
              <a:srgbClr val="2738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3328416"/>
            <a:ext cx="1971446" cy="0"/>
          </a:xfrm>
          <a:prstGeom prst="line">
            <a:avLst/>
          </a:prstGeom>
          <a:noFill/>
          <a:ln w="127000">
            <a:solidFill>
              <a:srgbClr val="B85C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3406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- 37% Acceptance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31336"/>
            <a:ext cx="10927080" cy="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513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7141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12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80.7% test accuracy.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(78.3%) </a:t>
            </a:r>
            <a:r>
              <a:rPr lang="en-US" sz="12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complex feature interactions and drove feature importance rankings.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513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4471416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</a:t>
            </a:r>
            <a:r>
              <a:rPr lang="en-US" sz="12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 single predictor,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by Country </a:t>
            </a:r>
            <a:r>
              <a:rPr lang="en-US" sz="12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 &gt; India)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Category_Internship </a:t>
            </a:r>
            <a:r>
              <a:rPr lang="en-US" sz="120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(strongest negative factor).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Re-engineer Low-Group Funnels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for Low Acceptance Roles.  </a:t>
            </a: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prediction: Formal Internships exhibit lowest predicted acceptance (16%–37%) and highest dropout (99%).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Modules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64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high-dropout internships into 2-week modular phases with early victory milestones.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Self-Assessments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1330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guided warm-up sessions before allocation to align skill expectations.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Pre-Emptive Staffing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001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mentor capacity 30 days prior to the January &amp; August registration surges.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</a:t>
            </a: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25%–30% reduction in dropouts for these 4 programs; completion-to-application ratio.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Algorithmic Fairness &amp; Governance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Demographics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raw age and country attributes from rejection logic, evaluating candidates strictly on competency rubrics.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977640" y="1965960"/>
            <a:ext cx="0" cy="320040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6052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Board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160520" y="30632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an algorithmic fairness review board prior to deploying automated screening filters into production pipelines.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0" y="1965960"/>
            <a:ext cx="0" cy="320040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680960" y="251460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Safety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0" y="306324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Logistic Regression as a safety check to flag qualified applicants rejected by Random Forest's high false-negative rate.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10927080" cy="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62356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we'll measure it: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 ratio across age cohorts and regions; false-negative equity for under-represented groups.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THREE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High-Engagement Formats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&amp; Operational Cleanliness.  </a:t>
            </a:r>
            <a:r>
              <a:rPr lang="en-US" sz="12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to prediction: Short workshops/events achieve 95%–98% predicted acceptance and minimal friction.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High-Viability Formats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326440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marketing and capacity for workshops like Startup Mastery and Design Hackathons.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Collaboration Networks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41330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student-led peer structures to sustain engagement as cohort sizes expand.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C5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344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Intake Dropdowns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500176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open-text institution fields on portal forms to eliminate spelling variants and data corruption.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623560"/>
            <a:ext cx="10927080" cy="0"/>
          </a:xfrm>
          <a:prstGeom prst="line">
            <a:avLst/>
          </a:prstGeom>
          <a:noFill/>
          <a:ln w="12700">
            <a:solidFill>
              <a:srgbClr val="2738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806440"/>
            <a:ext cx="10927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 </a:t>
            </a:r>
            <a:r>
              <a:rPr lang="en-US" sz="1150" dirty="0">
                <a:solidFill>
                  <a:srgbClr val="AE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of successful completions per quarter; resource efficiency ratio vs. formal internships.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Operations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39319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19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19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19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C19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Focus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Mid-program dropout rate (4 core tracks)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- 30%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quarterly completion ratios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Scoping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Latency &amp; Response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degradation in Jan/Aug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time-to-first-mentor contact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Intake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Certified completions per quarter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+40% YoY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issue log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 Format Scaling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Schema-compliant intake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Data Cleanliness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database validation script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Portal Redesign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C56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A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AI Safety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27080" cy="393192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Benchmark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D9A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Algorithmic Parity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Parity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Equitable across age cohorts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Disparate impact audit on screening outputs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9AE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Dual-Model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Recovery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 15%-20% candidates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candidates rescued via LogReg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Application Intake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Valid Timestamps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error logging &amp; schema checks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Watchlist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Multi-Cohort Retention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Statistically valid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D9DE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Longitudinal tracking (Pakistan &amp; Ethiopia)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D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for Program Managers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27080" cy="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mandatory drop-downs on portal; enforce required start dates.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2103120"/>
            <a:ext cx="0" cy="329184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automated email/SMS nudge sequences for early drop-off risk groups.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97880" y="2103120"/>
            <a:ext cx="0" cy="329184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3504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mentor allocation and intake capacity ahead of peak intake months (Jan/Aug).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595360" y="2103120"/>
            <a:ext cx="0" cy="3291840"/>
          </a:xfrm>
          <a:prstGeom prst="line">
            <a:avLst/>
          </a:prstGeom>
          <a:noFill/>
          <a:ln w="12700">
            <a:solidFill>
              <a:srgbClr val="3C56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32520" y="210312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3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732520" y="2880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C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32520" y="3291840"/>
            <a:ext cx="2423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monthly operational dashboards and retention metrics with leadership.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EXCELERATE  ·  RIT 1307 AI DATA TEAM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0;p14">
            <a:extLst>
              <a:ext uri="{FF2B5EF4-FFF2-40B4-BE49-F238E27FC236}">
                <a16:creationId xmlns:a16="http://schemas.microsoft.com/office/drawing/2014/main" id="{94684724-FF05-66F3-BE9A-FB97C4DAC495}"/>
              </a:ext>
            </a:extLst>
          </p:cNvPr>
          <p:cNvSpPr/>
          <p:nvPr/>
        </p:nvSpPr>
        <p:spPr>
          <a:xfrm>
            <a:off x="1530221" y="487058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sym typeface="Calibri"/>
              </a:rPr>
              <a:t>Appendix</a:t>
            </a:r>
            <a:endParaRPr sz="29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sym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E244BA-3016-DC30-094A-348A7887E014}"/>
              </a:ext>
            </a:extLst>
          </p:cNvPr>
          <p:cNvSpPr txBox="1"/>
          <p:nvPr/>
        </p:nvSpPr>
        <p:spPr>
          <a:xfrm>
            <a:off x="1176590" y="1740273"/>
            <a:ext cx="83210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Clr>
                <a:srgbClr val="5A6684"/>
              </a:buClr>
              <a:buSzPct val="11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2"/>
                </a:solidFill>
                <a:latin typeface="+mn-lt"/>
                <a:ea typeface="Calibri"/>
                <a:cs typeface="Calibri"/>
                <a:sym typeface="Calibri"/>
              </a:rPr>
              <a:t>Presentation Link</a:t>
            </a:r>
          </a:p>
          <a:p>
            <a:pPr marL="171450" lvl="0" indent="-171450">
              <a:buClr>
                <a:srgbClr val="5A6684"/>
              </a:buClr>
              <a:buSzPct val="115000"/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5A6684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https://docs.google.com/presentation/d/1H-0UzrInAAeXJ3JMiXcS4UlT9-y12jZk/edit?usp=drivesdk&amp;ouid=104059332352391893240&amp;rtpof=true&amp;sd=true</a:t>
            </a:r>
            <a:endParaRPr lang="en-US" sz="1600" b="1" dirty="0">
              <a:solidFill>
                <a:srgbClr val="5A668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5A6684"/>
              </a:buClr>
              <a:buSzPts val="2800"/>
            </a:pPr>
            <a:endParaRPr lang="en-US" sz="1600" b="1" dirty="0">
              <a:solidFill>
                <a:srgbClr val="5A668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5A6684"/>
              </a:buClr>
              <a:buSzPts val="2800"/>
            </a:pPr>
            <a:endParaRPr lang="en-US" sz="1600" b="1" dirty="0">
              <a:solidFill>
                <a:srgbClr val="A9B4CB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rgbClr val="5A6684"/>
              </a:buClr>
              <a:buSzPts val="2800"/>
            </a:pPr>
            <a:endParaRPr lang="en-US" sz="1200" b="1" dirty="0">
              <a:solidFill>
                <a:srgbClr val="A9B4CB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rgbClr val="5A6684"/>
              </a:buClr>
              <a:buSzPts val="2800"/>
            </a:pPr>
            <a:endParaRPr lang="en-US" sz="1200" b="1" dirty="0">
              <a:solidFill>
                <a:srgbClr val="A9B4CB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lvl="0">
              <a:buClr>
                <a:srgbClr val="5A6684"/>
              </a:buClr>
              <a:buSzPts val="2800"/>
            </a:pPr>
            <a:endParaRPr lang="en-US" sz="1200" b="1" dirty="0">
              <a:solidFill>
                <a:srgbClr val="A9B4CB"/>
              </a:solidFill>
              <a:latin typeface="+mn-lt"/>
              <a:ea typeface="Calibri"/>
              <a:cs typeface="Calibri"/>
              <a:sym typeface="Calibri"/>
            </a:endParaRPr>
          </a:p>
          <a:p>
            <a:endParaRPr lang="en-IN" sz="1200" dirty="0">
              <a:solidFill>
                <a:srgbClr val="A9B4CB"/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DD85C-90FB-5658-1E00-7249419797F7}"/>
              </a:ext>
            </a:extLst>
          </p:cNvPr>
          <p:cNvSpPr txBox="1"/>
          <p:nvPr/>
        </p:nvSpPr>
        <p:spPr>
          <a:xfrm>
            <a:off x="2844281" y="4907902"/>
            <a:ext cx="63557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Thank</a:t>
            </a:r>
            <a:r>
              <a:rPr lang="en-IN" sz="5400" u="sng" dirty="0"/>
              <a:t> </a:t>
            </a:r>
            <a:r>
              <a:rPr lang="en-IN" sz="5400" b="1" u="sng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169319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b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</a:rPr>
              <a:t>FINDINGS RECAP  ·  03B</a:t>
            </a:r>
          </a:p>
        </p:txBody>
      </p:sp>
      <p:sp>
        <p:nvSpPr>
          <p:cNvPr id="3" name="Title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</a:rPr>
              <a:t>How the Models Work</a:t>
            </a:r>
          </a:p>
        </p:txBody>
      </p:sp>
      <p:sp>
        <p:nvSpPr>
          <p:cNvPr id="4" name="LR Heading"/>
          <p:cNvSpPr/>
          <p:nvPr/>
        </p:nvSpPr>
        <p:spPr>
          <a:xfrm>
            <a:off x="640080" y="1737360"/>
            <a:ext cx="53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</a:rPr>
              <a:t>Logistic Regression — 80.70% accuracy</a:t>
            </a:r>
          </a:p>
        </p:txBody>
      </p:sp>
      <p:sp>
        <p:nvSpPr>
          <p:cNvPr id="5" name="LR Body"/>
          <p:cNvSpPr/>
          <p:nvPr/>
        </p:nvSpPr>
        <p:spPr>
          <a:xfrm>
            <a:off x="640080" y="2140000"/>
            <a:ext cx="5300000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</a:rPr>
              <a:t>Assigns each feature a weighted coefficient showing whether it raises or lowers acceptance odds, then combines them into a probability. Our most accurate model, with clean, signed results.</a:t>
            </a:r>
          </a:p>
        </p:txBody>
      </p:sp>
      <p:sp>
        <p:nvSpPr>
          <p:cNvPr id="6" name="RF Heading"/>
          <p:cNvSpPr/>
          <p:nvPr/>
        </p:nvSpPr>
        <p:spPr>
          <a:xfrm>
            <a:off x="640080" y="3480000"/>
            <a:ext cx="53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</a:rPr>
              <a:t>Random Forest — 78.25% accuracy</a:t>
            </a:r>
          </a:p>
        </p:txBody>
      </p:sp>
      <p:sp>
        <p:nvSpPr>
          <p:cNvPr id="7" name="RF Body"/>
          <p:cNvSpPr/>
          <p:nvPr/>
        </p:nvSpPr>
        <p:spPr>
          <a:xfrm>
            <a:off x="640080" y="3882640"/>
            <a:ext cx="53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</a:rPr>
              <a:t>200 decision trees vote on each outcome. Slightly less accurate, but captures non-linear patterns Logistic Regression misses. Chosen as our core model since its feature importance rankings explain </a:t>
            </a:r>
            <a:r>
              <a:rPr lang="en-US" sz="1150" i="1" dirty="0">
                <a:solidFill>
                  <a:srgbClr val="A9B4CB"/>
                </a:solidFill>
                <a:latin typeface="Calibri" pitchFamily="34" charset="0"/>
              </a:rPr>
              <a:t>why</a:t>
            </a:r>
            <a:r>
              <a:rPr lang="en-US" sz="1150" dirty="0">
                <a:solidFill>
                  <a:srgbClr val="A9B4CB"/>
                </a:solidFill>
                <a:latin typeface="Calibri" pitchFamily="34" charset="0"/>
              </a:rPr>
              <a:t> predictions land the way they do.</a:t>
            </a:r>
          </a:p>
        </p:txBody>
      </p:sp>
      <p:sp>
        <p:nvSpPr>
          <p:cNvPr id="8" name="Age Note Heading"/>
          <p:cNvSpPr/>
          <p:nvPr/>
        </p:nvSpPr>
        <p:spPr>
          <a:xfrm>
            <a:off x="640080" y="5300000"/>
            <a:ext cx="53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85C3E"/>
                </a:solidFill>
                <a:latin typeface="Calibri" pitchFamily="34" charset="0"/>
              </a:rPr>
              <a:t>BOTH MODELS AGREE</a:t>
            </a:r>
          </a:p>
        </p:txBody>
      </p:sp>
      <p:sp>
        <p:nvSpPr>
          <p:cNvPr id="9" name="Age Note Body"/>
          <p:cNvSpPr/>
          <p:nvPr/>
        </p:nvSpPr>
        <p:spPr>
          <a:xfrm>
            <a:off x="640080" y="5665760"/>
            <a:ext cx="53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9B4CB"/>
                </a:solidFill>
                <a:latin typeface="Calibri" pitchFamily="34" charset="0"/>
              </a:rPr>
              <a:t>Age ranks as the top predictor in both models — worth investigating further rather than assumed as causal.</a:t>
            </a:r>
          </a:p>
        </p:txBody>
      </p:sp>
      <p:pic>
        <p:nvPicPr>
          <p:cNvPr id="10" name="RF Importance 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4800000" cy="1959184"/>
          </a:xfrm>
          <a:prstGeom prst="rect">
            <a:avLst/>
          </a:prstGeom>
        </p:spPr>
      </p:pic>
      <p:sp>
        <p:nvSpPr>
          <p:cNvPr id="11" name="Importance Caption"/>
          <p:cNvSpPr/>
          <p:nvPr/>
        </p:nvSpPr>
        <p:spPr>
          <a:xfrm>
            <a:off x="6355080" y="3716544"/>
            <a:ext cx="521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A6684"/>
                </a:solidFill>
                <a:latin typeface="Calibri" pitchFamily="34" charset="0"/>
              </a:rPr>
              <a:t>Random Forest feature importance — Age ranks highest</a:t>
            </a:r>
          </a:p>
        </p:txBody>
      </p:sp>
      <p:pic>
        <p:nvPicPr>
          <p:cNvPr id="12" name="RF Confusion Matrix"/>
          <p:cNvPicPr/>
          <p:nvPr/>
        </p:nvPicPr>
        <p:blipFill>
          <a:blip r:embed="rId3"/>
          <a:stretch>
            <a:fillRect/>
          </a:stretch>
        </p:blipFill>
        <p:spPr>
          <a:xfrm>
            <a:off x="6355080" y="3956544"/>
            <a:ext cx="4800000" cy="2191781"/>
          </a:xfrm>
          <a:prstGeom prst="rect">
            <a:avLst/>
          </a:prstGeom>
        </p:spPr>
      </p:pic>
      <p:sp>
        <p:nvSpPr>
          <p:cNvPr id="13" name="CM Caption"/>
          <p:cNvSpPr/>
          <p:nvPr/>
        </p:nvSpPr>
        <p:spPr>
          <a:xfrm>
            <a:off x="6355080" y="6168325"/>
            <a:ext cx="5212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A6684"/>
                </a:solidFill>
                <a:latin typeface="Calibri" pitchFamily="34" charset="0"/>
              </a:rPr>
              <a:t>Random Forest confusion matrix, 78.25% accuracy — more false negatives than false positives</a:t>
            </a:r>
          </a:p>
        </p:txBody>
      </p:sp>
      <p:sp>
        <p:nvSpPr>
          <p:cNvPr id="14" name="Footer Left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</a:rPr>
              <a:t>EXCELERATE  ·  RIT 1307 AI DATA TEAM 1</a:t>
            </a:r>
          </a:p>
        </p:txBody>
      </p:sp>
      <p:sp>
        <p:nvSpPr>
          <p:cNvPr id="15" name="Footer Page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</a:rPr>
              <a:t>08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b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</a:rPr>
              <a:t>FINDINGS RECAP  ·  01B</a:t>
            </a:r>
          </a:p>
        </p:txBody>
      </p:sp>
      <p:sp>
        <p:nvSpPr>
          <p:cNvPr id="3" name="Title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</a:rPr>
              <a:t>Demand &amp; Rejection at a Glance</a:t>
            </a:r>
          </a:p>
        </p:txBody>
      </p:sp>
      <p:sp>
        <p:nvSpPr>
          <p:cNvPr id="4" name="Left Heading"/>
          <p:cNvSpPr/>
          <p:nvPr/>
        </p:nvSpPr>
        <p:spPr>
          <a:xfrm>
            <a:off x="640080" y="1750000"/>
            <a:ext cx="5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</a:rPr>
              <a:t>Demand Concentration</a:t>
            </a:r>
          </a:p>
        </p:txBody>
      </p:sp>
      <p:pic>
        <p:nvPicPr>
          <p:cNvPr id="5" name="Demand 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2150000"/>
            <a:ext cx="5200000" cy="2540700"/>
          </a:xfrm>
          <a:prstGeom prst="rect">
            <a:avLst/>
          </a:prstGeom>
        </p:spPr>
      </p:pic>
      <p:sp>
        <p:nvSpPr>
          <p:cNvPr id="6" name="Left Caption"/>
          <p:cNvSpPr/>
          <p:nvPr/>
        </p:nvSpPr>
        <p:spPr>
          <a:xfrm>
            <a:off x="640080" y="4780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</a:rPr>
              <a:t>63.4% of total applicants apply for Internships (5,421 records), followed by Courses (23.8%).</a:t>
            </a:r>
          </a:p>
        </p:txBody>
      </p:sp>
      <p:sp>
        <p:nvSpPr>
          <p:cNvPr id="7" name="Divider"/>
          <p:cNvSpPr/>
          <p:nvPr/>
        </p:nvSpPr>
        <p:spPr>
          <a:xfrm>
            <a:off x="6096000" y="1750000"/>
            <a:ext cx="0" cy="4400000"/>
          </a:xfrm>
          <a:prstGeom prst="line">
            <a:avLst/>
          </a:prstGeom>
          <a:noFill/>
          <a:ln w="9525">
            <a:solidFill>
              <a:srgbClr val="3C5680"/>
            </a:solidFill>
            <a:prstDash val="solid"/>
          </a:ln>
        </p:spPr>
      </p:sp>
      <p:sp>
        <p:nvSpPr>
          <p:cNvPr id="8" name="Right Heading"/>
          <p:cNvSpPr/>
          <p:nvPr/>
        </p:nvSpPr>
        <p:spPr>
          <a:xfrm>
            <a:off x="6355080" y="1750000"/>
            <a:ext cx="5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</a:rPr>
              <a:t>Application Outcomes</a:t>
            </a:r>
          </a:p>
        </p:txBody>
      </p:sp>
      <p:pic>
        <p:nvPicPr>
          <p:cNvPr id="9" name="Rejection Chart"/>
          <p:cNvPicPr/>
          <p:nvPr/>
        </p:nvPicPr>
        <p:blipFill>
          <a:blip r:embed="rId3"/>
          <a:stretch>
            <a:fillRect/>
          </a:stretch>
        </p:blipFill>
        <p:spPr>
          <a:xfrm>
            <a:off x="6355080" y="2150000"/>
            <a:ext cx="5200000" cy="2557000"/>
          </a:xfrm>
          <a:prstGeom prst="rect">
            <a:avLst/>
          </a:prstGeom>
        </p:spPr>
      </p:pic>
      <p:sp>
        <p:nvSpPr>
          <p:cNvPr id="10" name="Right Caption"/>
          <p:cNvSpPr/>
          <p:nvPr/>
        </p:nvSpPr>
        <p:spPr>
          <a:xfrm>
            <a:off x="6355080" y="4797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</a:rPr>
              <a:t>3,569 applicants (41.7%) were rejected, versus only 9.0% who started (767 learners).</a:t>
            </a:r>
          </a:p>
        </p:txBody>
      </p:sp>
      <p:sp>
        <p:nvSpPr>
          <p:cNvPr id="11" name="Footer Left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</a:rPr>
              <a:t>EXCELERATE  ·  RIT 1307 AI DATA TEAM 1</a:t>
            </a:r>
          </a:p>
        </p:txBody>
      </p:sp>
      <p:sp>
        <p:nvSpPr>
          <p:cNvPr id="12" name="Footer Page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</a:rPr>
              <a:t>03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b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</a:rPr>
              <a:t>FINDINGS RECAP  ·  01C</a:t>
            </a:r>
          </a:p>
        </p:txBody>
      </p:sp>
      <p:sp>
        <p:nvSpPr>
          <p:cNvPr id="3" name="Title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</a:rPr>
              <a:t>Registration Timing &amp; Institutional Reach</a:t>
            </a:r>
          </a:p>
        </p:txBody>
      </p:sp>
      <p:sp>
        <p:nvSpPr>
          <p:cNvPr id="4" name="Left Heading"/>
          <p:cNvSpPr/>
          <p:nvPr/>
        </p:nvSpPr>
        <p:spPr>
          <a:xfrm>
            <a:off x="640080" y="1750000"/>
            <a:ext cx="5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</a:rPr>
              <a:t>Registration Peaks</a:t>
            </a:r>
          </a:p>
        </p:txBody>
      </p:sp>
      <p:pic>
        <p:nvPicPr>
          <p:cNvPr id="5" name="Demand 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640080" y="2150000"/>
            <a:ext cx="5200000" cy="2641270"/>
          </a:xfrm>
          <a:prstGeom prst="rect">
            <a:avLst/>
          </a:prstGeom>
        </p:spPr>
      </p:pic>
      <p:sp>
        <p:nvSpPr>
          <p:cNvPr id="6" name="Left Caption"/>
          <p:cNvSpPr/>
          <p:nvPr/>
        </p:nvSpPr>
        <p:spPr>
          <a:xfrm>
            <a:off x="640080" y="4820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</a:rPr>
              <a:t>Sign-ups cluster around academic term breaks — January (1,777) and August (1,132) are the clearest peaks.</a:t>
            </a:r>
          </a:p>
        </p:txBody>
      </p:sp>
      <p:sp>
        <p:nvSpPr>
          <p:cNvPr id="7" name="Divider"/>
          <p:cNvSpPr/>
          <p:nvPr/>
        </p:nvSpPr>
        <p:spPr>
          <a:xfrm>
            <a:off x="6096000" y="1750000"/>
            <a:ext cx="0" cy="4400000"/>
          </a:xfrm>
          <a:prstGeom prst="line">
            <a:avLst/>
          </a:prstGeom>
          <a:noFill/>
          <a:ln w="9525">
            <a:solidFill>
              <a:srgbClr val="3C5680"/>
            </a:solidFill>
            <a:prstDash val="solid"/>
          </a:ln>
        </p:spPr>
      </p:sp>
      <p:sp>
        <p:nvSpPr>
          <p:cNvPr id="8" name="Right Heading"/>
          <p:cNvSpPr/>
          <p:nvPr/>
        </p:nvSpPr>
        <p:spPr>
          <a:xfrm>
            <a:off x="6355080" y="1750000"/>
            <a:ext cx="520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</a:rPr>
              <a:t>Institutional Representation</a:t>
            </a:r>
          </a:p>
        </p:txBody>
      </p:sp>
      <p:pic>
        <p:nvPicPr>
          <p:cNvPr id="9" name="Rejection Chart"/>
          <p:cNvPicPr/>
          <p:nvPr/>
        </p:nvPicPr>
        <p:blipFill>
          <a:blip r:embed="rId3"/>
          <a:stretch>
            <a:fillRect/>
          </a:stretch>
        </p:blipFill>
        <p:spPr>
          <a:xfrm>
            <a:off x="6355080" y="2150000"/>
            <a:ext cx="5200000" cy="2603000"/>
          </a:xfrm>
          <a:prstGeom prst="rect">
            <a:avLst/>
          </a:prstGeom>
        </p:spPr>
      </p:pic>
      <p:sp>
        <p:nvSpPr>
          <p:cNvPr id="10" name="Right Caption"/>
          <p:cNvSpPr/>
          <p:nvPr/>
        </p:nvSpPr>
        <p:spPr>
          <a:xfrm>
            <a:off x="6355080" y="4797000"/>
            <a:ext cx="52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CB"/>
                </a:solidFill>
                <a:latin typeface="Calibri" pitchFamily="34" charset="0"/>
              </a:rPr>
              <a:t>Saint Louis University dominates with 4,437 learners — the next-highest institution has just 152.</a:t>
            </a:r>
          </a:p>
        </p:txBody>
      </p:sp>
      <p:sp>
        <p:nvSpPr>
          <p:cNvPr id="11" name="Footer Left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</a:rPr>
              <a:t>EXCELERATE  ·  RIT 1307 AI DATA TEAM 1</a:t>
            </a:r>
          </a:p>
        </p:txBody>
      </p:sp>
      <p:sp>
        <p:nvSpPr>
          <p:cNvPr id="12" name="Footer Page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</a:rPr>
              <a:t>04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b">
    <p:bg>
      <p:bgPr>
        <a:solidFill>
          <a:srgbClr val="0E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B85C3E"/>
                </a:solidFill>
                <a:latin typeface="Calibri" pitchFamily="34" charset="0"/>
              </a:rPr>
              <a:t>FINDINGS RECAP  ·  03C</a:t>
            </a:r>
          </a:p>
        </p:txBody>
      </p:sp>
      <p:sp>
        <p:nvSpPr>
          <p:cNvPr id="3" name="Title"/>
          <p:cNvSpPr/>
          <p:nvPr/>
        </p:nvSpPr>
        <p:spPr>
          <a:xfrm>
            <a:off x="59436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</a:rPr>
              <a:t>Prioritize High-Conversion Categories</a:t>
            </a:r>
          </a:p>
        </p:txBody>
      </p:sp>
      <p:sp>
        <p:nvSpPr>
          <p:cNvPr id="4" name="Subheading"/>
          <p:cNvSpPr/>
          <p:nvPr/>
        </p:nvSpPr>
        <p:spPr>
          <a:xfrm>
            <a:off x="640080" y="1650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9B4CB"/>
                </a:solidFill>
                <a:latin typeface="Calibri" pitchFamily="34" charset="0"/>
              </a:rPr>
              <a:t>Positive outcome rate by opportunity category</a:t>
            </a:r>
          </a:p>
        </p:txBody>
      </p:sp>
      <p:pic>
        <p:nvPicPr>
          <p:cNvPr id="5" name="High Conversion 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2346000" y="2150000"/>
            <a:ext cx="7500000" cy="4054000"/>
          </a:xfrm>
          <a:prstGeom prst="rect">
            <a:avLst/>
          </a:prstGeom>
        </p:spPr>
      </p:pic>
      <p:sp>
        <p:nvSpPr>
          <p:cNvPr id="6" name="Caption"/>
          <p:cNvSpPr/>
          <p:nvPr/>
        </p:nvSpPr>
        <p:spPr>
          <a:xfrm>
            <a:off x="2346000" y="6250000"/>
            <a:ext cx="75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0BE"/>
                </a:solidFill>
                <a:latin typeface="Calibri" pitchFamily="34" charset="0"/>
              </a:rPr>
              <a:t>Engagement, Event, and Course opportunities convert 4–5x more often than formal Internships.</a:t>
            </a:r>
          </a:p>
        </p:txBody>
      </p:sp>
      <p:sp>
        <p:nvSpPr>
          <p:cNvPr id="7" name="Footer Left"/>
          <p:cNvSpPr/>
          <p:nvPr/>
        </p:nvSpPr>
        <p:spPr>
          <a:xfrm>
            <a:off x="640080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50" dirty="0">
                <a:solidFill>
                  <a:srgbClr val="5A6684"/>
                </a:solidFill>
                <a:latin typeface="Calibri" pitchFamily="34" charset="0"/>
              </a:rPr>
              <a:t>EXCELERATE  ·  RIT 1307 AI DATA TEAM 1</a:t>
            </a:r>
          </a:p>
        </p:txBody>
      </p:sp>
      <p:sp>
        <p:nvSpPr>
          <p:cNvPr id="8" name="Footer Page"/>
          <p:cNvSpPr/>
          <p:nvPr/>
        </p:nvSpPr>
        <p:spPr>
          <a:xfrm>
            <a:off x="1090879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84"/>
                </a:solidFill>
                <a:latin typeface="Calibri" pitchFamily="34" charset="0"/>
              </a:rPr>
              <a:t>07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1026</Words>
  <Application>Microsoft Office PowerPoint</Application>
  <PresentationFormat>Widescreen</PresentationFormat>
  <Paragraphs>195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Aaditya Mandarapu</cp:lastModifiedBy>
  <cp:revision>3</cp:revision>
  <dcterms:created xsi:type="dcterms:W3CDTF">2026-08-08T18:44:02Z</dcterms:created>
  <dcterms:modified xsi:type="dcterms:W3CDTF">2026-08-10T17:56:39Z</dcterms:modified>
</cp:coreProperties>
</file>