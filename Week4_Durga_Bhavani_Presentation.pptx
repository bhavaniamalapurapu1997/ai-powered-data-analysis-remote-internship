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733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bmZ0ZZ8CO5CB4TxZ4KrQAPDYYHUSb43P/view?usp=sharing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6960" y="320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C3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C1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DATA TEAM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Data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Internship — Final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C1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1307 — AI Data Team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Oladapo Abimbola   </a:t>
            </a:r>
            <a:r>
              <a:rPr lang="en-US" sz="1250" i="1" dirty="0">
                <a:solidFill>
                  <a:srgbClr val="C1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Tshepiso Kelebogile Rampete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Amalapurapu Durga Bhavani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Yare Phenyle Mpella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Ojigbani Cherish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7492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Sindiwe Rana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Kipyator Kapyemit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7492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Oyedijo Comfort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74920" y="4983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Aziega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RECAP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&amp; Registration Trends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80760" y="1874520"/>
            <a:ext cx="0" cy="393192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 DYNAMICS &amp; MAJOR FOCUS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8,558 Total 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learner engagement across 23 opportunities in 5 distinct categories.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Concentration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472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 of total applicants apply for Internships (5,421 records), followed by Courses (23.8%).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Influx Cycles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surges cluster predictably around academic term breaks in January and August.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Concentration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1846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70% of applicants belong to CS and Information Systems disciplines.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DROP-OFF &amp; QUALITY GAPS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 Rejection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5786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3,569 applicants rejected versus only 9.0% Started (767 learners).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Gap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4472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drop-off between candidate allocation and active engagement.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Anomalies Identified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 of records lacked Opportunity Start Dates; 3,281 records had apply timestamps prior to sign-up date.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Overhead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51846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spelling variations found for source institutions (e.g., Saint Louis University).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RECAP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Retention Crisis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C1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dropouts isolated in just 4 programs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analysis: 608 of 617 total program dropouts occur almost exclusively within four formal internship tracks.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&amp; PROGRAM CONCENTRATION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88136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715768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715768"/>
            <a:ext cx="5280660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Entrepreneurship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881360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3374136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374136"/>
            <a:ext cx="5139842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648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881360" y="3648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4032504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4032504"/>
            <a:ext cx="4999025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306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881360" y="4306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4690872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690872"/>
            <a:ext cx="4717390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50749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factors (age/gender) </a:t>
            </a: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weak predictors of dropout. The primary drivers are structural onboarding friction, rigid expectations, and lack of scaffolded milestones.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RECAP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Predictions &amp; Drivers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 (Workshops / Events)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0" y="2084832"/>
            <a:ext cx="7040880" cy="0"/>
          </a:xfrm>
          <a:prstGeom prst="line">
            <a:avLst/>
          </a:prstGeom>
          <a:noFill/>
          <a:ln w="127000">
            <a:solidFill>
              <a:srgbClr val="E9E7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2084832"/>
            <a:ext cx="6688836" cy="0"/>
          </a:xfrm>
          <a:prstGeom prst="line">
            <a:avLst/>
          </a:prstGeom>
          <a:noFill/>
          <a:ln w="127000">
            <a:solidFill>
              <a:srgbClr val="5B8C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40796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Avg Acceptance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Tier (Certifications)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706624"/>
            <a:ext cx="7040880" cy="0"/>
          </a:xfrm>
          <a:prstGeom prst="line">
            <a:avLst/>
          </a:prstGeom>
          <a:noFill/>
          <a:ln w="127000">
            <a:solidFill>
              <a:srgbClr val="E9E7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706624"/>
            <a:ext cx="4787798" cy="0"/>
          </a:xfrm>
          <a:prstGeom prst="line">
            <a:avLst/>
          </a:prstGeom>
          <a:noFill/>
          <a:ln w="127000">
            <a:solidFill>
              <a:srgbClr val="C190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39758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Avg Acceptance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Tier (Formal Internships)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0" y="3328416"/>
            <a:ext cx="7040880" cy="0"/>
          </a:xfrm>
          <a:prstGeom prst="line">
            <a:avLst/>
          </a:prstGeom>
          <a:noFill/>
          <a:ln w="127000">
            <a:solidFill>
              <a:srgbClr val="E9E7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3328416"/>
            <a:ext cx="1971446" cy="0"/>
          </a:xfrm>
          <a:prstGeom prst="line">
            <a:avLst/>
          </a:prstGeom>
          <a:noFill/>
          <a:ln w="127000">
            <a:solidFill>
              <a:srgbClr val="B85C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3406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- 37% Acceptance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31336"/>
            <a:ext cx="10927080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513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71416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80.7% test accuracy.
</a:t>
            </a: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(78.3%)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complex feature interactions and drove feature importance rankings.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1513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471416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strongest single predictor, </a:t>
            </a: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Country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 &gt; India) </a:t>
            </a: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Category_Internship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(strongest negative factor).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Re-engineer Low-Group Funnels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for Low Acceptance Roles.  </a:t>
            </a:r>
            <a:r>
              <a:rPr lang="en-US" sz="12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prediction: Formal Internships exhibit lowest predicted acceptance (16%–37%) and highest dropout (99%).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Modules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2644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high-dropout internships into 2-week modular phases with early victory milestones.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Self-Assessments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1330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guided warm-up sessions before allocation to align skill expectations.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Pre-Emptive Staffing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001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mentor capacity 30 days prior to the January &amp; August registration surges.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806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 </a:t>
            </a: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25%–30% reduction in dropouts for these 4 programs; completion-to-application ratio.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Fairness &amp; Governance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Demographics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raw age and country attributes from rejection logic, evaluating candidates strictly on competency rubrics.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77640" y="1965960"/>
            <a:ext cx="0" cy="320040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6052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Board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60520" y="30632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algorithmic fairness review board prior to deploying automated screening filters into production pipelines.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1965960"/>
            <a:ext cx="0" cy="320040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8096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Safety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0" y="30632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Logistic Regression as a safety check to flag qualified applicants rejected by Random Forest's high false-negative rate.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927080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6235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measure it:  </a:t>
            </a:r>
            <a:r>
              <a:rPr lang="en-US" sz="11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ratio across age cohorts and regions; false-negative equity for under-represented groups.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THREE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High-Engagement Formats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Operational Cleanliness.  </a:t>
            </a:r>
            <a:r>
              <a:rPr lang="en-US" sz="12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prediction: Short workshops/events achieve 95%–98% predicted acceptance and minimal friction.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High-Viability Formats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2644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and capacity for workshops like Startup Mastery and Design Hackathons.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Collaboration Networks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1330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student-led peer structures to sustain engagement as cohort sizes expand.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Intake Dropdowns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001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open-text institution fields on portal forms to eliminate spelling variants and data corruption.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806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 </a:t>
            </a: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successful completions per quarter; resource efficiency ratio vs. formal internships.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Operations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39319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Mid-program dropout rate (4 core tracks)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- 30%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quarterly completion ratios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Scoping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622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Latency &amp; Response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degradation in Jan/Aug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time-to-first-mentor 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Intake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completions per quarter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 YoY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issue log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Format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Schema-compliant intake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Data Cleanliness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database validation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Redesign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AI Safety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39319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Algorithmic Parity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Equitable across age cohorts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 impact audit on screening outputs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Dual-Model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Recovery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Salvage 15%-20% candidates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candidates rescued via LogReg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Application Intake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Valid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error logging &amp; schema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Watchlist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Multi-Cohort Retention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Statistically valid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Longitudinal tracking (Pakistan &amp; Ethiopia)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Program Managers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8D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drop-downs on portal; enforce required start dates.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0" cy="329184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8D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automated email/SMS nudge sequences for early drop-off risk groups.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97880" y="2103120"/>
            <a:ext cx="0" cy="329184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8D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mentor allocation and intake capacity ahead of peak intake months (Jan/Aug).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2103120"/>
            <a:ext cx="0" cy="329184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8D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73252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monthly operational dashboards and retention metrics with leadership.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0;p14">
            <a:extLst>
              <a:ext uri="{FF2B5EF4-FFF2-40B4-BE49-F238E27FC236}">
                <a16:creationId xmlns:a16="http://schemas.microsoft.com/office/drawing/2014/main" id="{94684724-FF05-66F3-BE9A-FB97C4DAC495}"/>
              </a:ext>
            </a:extLst>
          </p:cNvPr>
          <p:cNvSpPr/>
          <p:nvPr/>
        </p:nvSpPr>
        <p:spPr>
          <a:xfrm>
            <a:off x="1530221" y="48705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29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sym typeface="Calibri"/>
              </a:rPr>
              <a:t>Appendix</a:t>
            </a:r>
            <a:endParaRPr sz="2900" b="1" dirty="0">
              <a:solidFill>
                <a:srgbClr val="16223A"/>
              </a:solidFill>
              <a:latin typeface="Cambria" pitchFamily="34" charset="0"/>
              <a:ea typeface="Cambria" pitchFamily="34" charset="-122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244BA-3016-DC30-094A-348A7887E014}"/>
              </a:ext>
            </a:extLst>
          </p:cNvPr>
          <p:cNvSpPr txBox="1"/>
          <p:nvPr/>
        </p:nvSpPr>
        <p:spPr>
          <a:xfrm>
            <a:off x="1176590" y="1740273"/>
            <a:ext cx="83210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Clr>
                <a:srgbClr val="1A3A5C"/>
              </a:buClr>
              <a:buSzPct val="115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/>
                </a:solidFill>
                <a:latin typeface="+mn-lt"/>
                <a:ea typeface="Calibri"/>
                <a:cs typeface="Calibri"/>
                <a:sym typeface="Calibri"/>
              </a:rPr>
              <a:t>Presentation Link</a:t>
            </a:r>
          </a:p>
          <a:p>
            <a:pPr marL="171450" lvl="0" indent="-171450">
              <a:buClr>
                <a:srgbClr val="1A3A5C"/>
              </a:buClr>
              <a:buSzPct val="115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https://drive.google.com/file/d/1bmZ0ZZ8CO5CB4TxZ4KrQAPDYYHUSb43P/view?usp=sharing</a:t>
            </a:r>
            <a:endParaRPr lang="en-US" sz="1600" b="1" dirty="0">
              <a:solidFill>
                <a:srgbClr val="1A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1A3A5C"/>
              </a:buClr>
              <a:buSzPts val="2800"/>
            </a:pPr>
            <a:endParaRPr lang="en-US" sz="1600" b="1" dirty="0">
              <a:solidFill>
                <a:srgbClr val="1A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1A3A5C"/>
              </a:buClr>
              <a:buSzPts val="2800"/>
            </a:pPr>
            <a:endParaRPr lang="en-US" sz="1600" b="1" dirty="0">
              <a:solidFill>
                <a:srgbClr val="00206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>
              <a:buClr>
                <a:srgbClr val="1A3A5C"/>
              </a:buClr>
              <a:buSzPts val="2800"/>
            </a:pPr>
            <a:endParaRPr lang="en-US" sz="1200" b="1" dirty="0">
              <a:solidFill>
                <a:srgbClr val="00206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>
              <a:buClr>
                <a:srgbClr val="1A3A5C"/>
              </a:buClr>
              <a:buSzPts val="2800"/>
            </a:pPr>
            <a:endParaRPr lang="en-US" sz="1200" b="1" dirty="0">
              <a:solidFill>
                <a:srgbClr val="002060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>
              <a:buClr>
                <a:srgbClr val="1A3A5C"/>
              </a:buClr>
              <a:buSzPts val="2800"/>
            </a:pPr>
            <a:endParaRPr lang="en-US" sz="1200" b="1" dirty="0">
              <a:solidFill>
                <a:srgbClr val="002060"/>
              </a:solidFill>
              <a:latin typeface="+mn-lt"/>
              <a:ea typeface="Calibri"/>
              <a:cs typeface="Calibri"/>
              <a:sym typeface="Calibri"/>
            </a:endParaRPr>
          </a:p>
          <a:p>
            <a:endParaRPr lang="en-IN" sz="12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DD85C-90FB-5658-1E00-7249419797F7}"/>
              </a:ext>
            </a:extLst>
          </p:cNvPr>
          <p:cNvSpPr txBox="1"/>
          <p:nvPr/>
        </p:nvSpPr>
        <p:spPr>
          <a:xfrm>
            <a:off x="2844281" y="4907902"/>
            <a:ext cx="6355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u="sng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</a:rPr>
              <a:t>Thank</a:t>
            </a:r>
            <a:r>
              <a:rPr lang="en-IN" sz="5400" u="sng" dirty="0"/>
              <a:t> </a:t>
            </a:r>
            <a:r>
              <a:rPr lang="en-IN" sz="5400" b="1" u="sng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16931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1026</Words>
  <Application>Microsoft Office PowerPoint</Application>
  <PresentationFormat>Widescreen</PresentationFormat>
  <Paragraphs>195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Aaditya Mandarapu</cp:lastModifiedBy>
  <cp:revision>3</cp:revision>
  <dcterms:created xsi:type="dcterms:W3CDTF">2026-08-08T18:44:02Z</dcterms:created>
  <dcterms:modified xsi:type="dcterms:W3CDTF">2026-08-10T17:58:40Z</dcterms:modified>
</cp:coreProperties>
</file>